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em pé. Dizer o problema em uma frase: despachar uma ocorrência sem juntar os bancos.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minutos no máximo. Não entrar em tecnologia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painel no navegador só chama a porta 8085.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Sérgio avança os slides do ensaio e opera o Painel de Controle e o RabbitMQ.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Igor assume a palavra.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que a página / não começa com /api/, então o HTML abre sem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login acima foi executado nesta máquina. Não ler o token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Felipe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if de cima é o segundo despacho: 200, sem fila 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Sérgio assume. A explicação vai até o minuto 36. O ensaio, do 36 ao 45, também é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padrão de expiracaoMinutos é 2. Confirmado verdadeiro não entra na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Sérgio abre o painel e o management antes deste slide e conduz o ensaio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esperar o marcador de 2 minutos neste bloco. O aceite confirmado não gera EXPIRACAO.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Encerrar. Não abrir pergunta nova. Se perguntarem o roteiro longo, apontar o manual e a seção 9 do plano das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ED6DF"/>
                </a:solidFill>
                <a:latin typeface="Calibri"/>
              </a:rPr>
              <a:t>ARQUITETURA DE SOFTWARE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058400" cy="10058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ECF2F8"/>
                </a:solidFill>
                <a:latin typeface="Calibri"/>
              </a:rPr>
              <a:t>OmniLeito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9601200" cy="73152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B0C6D2"/>
                </a:solidFill>
                <a:latin typeface="Calibri"/>
              </a:rPr>
              <a:t>Regulação de ocorrência, ambulância e leito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058400" cy="118872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F2F8"/>
                </a:solidFill>
                <a:latin typeface="Calibri"/>
              </a:rPr>
              <a:t>Felipe Melchior de Britto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CF2F8"/>
                </a:solidFill>
                <a:latin typeface="Calibri"/>
              </a:rPr>
              <a:t>Igor Benedito Costa Gonçalves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CF2F8"/>
                </a:solidFill>
                <a:latin typeface="Calibri"/>
              </a:rPr>
              <a:t>Sérgio Leandro Alves da Silva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7ED6DF"/>
                </a:solidFill>
                <a:latin typeface="Calibri"/>
              </a:rPr>
              <a:t>Até 45 minutos  ·  cada integrante explica a própria parte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6B4C4"/>
                </a:solidFill>
                <a:latin typeface="Calibri"/>
              </a:rPr>
              <a:t>1  / 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O ESTUDO DE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O que a regulação precisa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Uma ocorrência pede ambulância exclusiva e um leito da especialidade gravada na abertura.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A unidade hospitalar aceita, recusa ou não responde. Recusa e prazo não devolvem a ambulância à base.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O segundo despacho da mesma ocorrência não aloca outra ambulância nem outro leito.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A consulta de vagas precisa ser rápida, e o alerta precisa ficar registrado sem SMS real.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Se o serviço de leitos cair, a central continua abrindo ocorrência.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  / 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SEIS PROCESSOS, UMA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Cada banco fica com quem é dono do 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8085  API Gateway e o Painel de Controle. Igor.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8092  MS-Identidade. Login e JWT. Igor.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8093  MS-Ocorrências. Abertura, despacho e saga. Felipe.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8094  MS-Frota. Ambulância. Felipe; cache, Sérgio.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8095  MS-Leitos. Reserva e hospital. Felipe; prazo e cache, Sérgio.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8096  MS-Notificações. Mongo. Sérgio.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MySQL em cada serviço. Redis na frota e nos leitos. RabbitMQ nas oito filas.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3  / 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ROTEIRO DE 45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Doze minutos de explicação e nove de ensaio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0 a 12 min — Igor. Token, gateway, circuito e o painel.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12 a 24 min — Felipe. Saga, ambulância, leito e o hospital simulado.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24 a 36 min — Sérgio. Redis, prazo de 2 minutos, falta de leito e Mongo.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36 a 45 min — Sérgio. Ensaio no Painel de Controle e no RabbitMQ.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Se a banca der mais tempo, Igor e Felipe sobem para 15 minutos. O ensaio continua com o Sérgio.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4  / 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74519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ED6DF"/>
                </a:solidFill>
                <a:latin typeface="Calibri"/>
              </a:rPr>
              <a:t>MINUTOS 0 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F2F8"/>
                </a:solidFill>
                <a:latin typeface="Calibri"/>
              </a:rPr>
              <a:t>Igor Benedito Costa Gonçalves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0C6D2"/>
                </a:solidFill>
                <a:latin typeface="Calibri"/>
              </a:rPr>
              <a:t>Uma porta para a regulação, um token e um circuito que não trava a abertura.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6B4C4"/>
                </a:solidFill>
                <a:latin typeface="Calibri"/>
              </a:rPr>
              <a:t>5  / 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A central não pode conhecer cinco portas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RF01. O regulador autentica uma vez. A senha não volta em cada chamada.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RF04. Abertura, despacho, ocupação e notificação entram pelo mesmo gateway.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RF05. A consulta de leitos tem tempo limitado. Leitos parado responde 503.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A abertura e o despacho não passam por esse circuito. A central não fica presa.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A banca precisa ver isso sem abrir cinco Swaggers ao mesmo tempo: daí o painel.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6  / 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A 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Por que gateway, JWT e Resilience4j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Spring Cloud Gateway. Uma rota por caminho. O navegador não escolhe a porta interna.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JWT HMAC validado no gateway. A identidade emite o token; as outras chamadas não voltam ao 8092.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Resilience4j só em /api/leitos. Timeout de 2 segundos, retry no GET, circuito e fallback 503.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O painel é HTML estático servido pelo próprio gateway, fora do filtro /api/.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Swagger continua em cada serviço, em /swagger-ui.html. O gateway não junta os cinco.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7  / 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JwtGatewayFilter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Login e a página passam. O resto exige Bearer.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48056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String caminho = exchange.getRequest().getURI().getPath();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(caminho.startsWith("/api/auth/") || caminho.startsWith("/fallback/"))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chain.filter(exchange);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(!caminho.startsWith("/api/"))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chain.filter(exchange);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String token = autorizacao != null &amp;&amp; autorizacao.startsWith("Bearer ")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? autorizacao.substring(7) : null;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(jwtServico.validar(token) == null)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exchange.getResponse().setStatusCode(HttpStatus.UNAUTHORIZED);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exchange.getResponse().writeWith(Mono.just(buffer));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C6D2"/>
                </a:solidFill>
                <a:latin typeface="Calibri"/>
              </a:rPr>
              <a:t>api-gateway  ·  JwtGatewayFilter.filter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8  / 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RotasGateway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O circuito envolve só a rota de leitos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329184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.route("leitos", rota -&gt; rota.path("/api/leitos/**")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.filters(filtro -&gt; filtro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.circuitBreaker(config -&gt; config.setName("leitos")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    .setFallbackUri("forward:/fallback/leitos"))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.retry(config -&gt; config.setRetries(2).setMethods(HttpMethod.GET)))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.uri(leitos))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Fallback: HTTP 503, codigo SERVICO_LEITOS_INDISPONIVEL.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Abrir ocorrência continua no MS-Ocorrências e responde 201 com o 8095 parado.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9  / 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A regulação inteira numa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931920" cy="457200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http://localhost:8085/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O título é Painel de Controle.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Cada cartão mostra a API, quem gera e quem consome.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O token fica na aba. Fechar a aba pede login de novo.</a:t>
            </a:r>
          </a:p>
        </p:txBody>
      </p:sp>
      <p:pic>
        <p:nvPicPr>
          <p:cNvPr id="7" name="Picture 6" descr="painel-cont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71600"/>
            <a:ext cx="3682424" cy="4709160"/>
          </a:xfrm>
          <a:prstGeom prst="rect">
            <a:avLst/>
          </a:prstGeom>
          <a:ln w="12700">
            <a:solidFill>
              <a:srgbClr val="466E8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10  / 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IGOR  ·  O QUE MOSTRAR NO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Seis portas no ar e um token Bearer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320040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$ curl -s -X POST localhost:8092/api/auth/login \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-H 'Content-Type: application/json' \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-d '{"usuario":"regulador","senha":"regulador"}'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tipo Bearer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token eyJhbGciOiJIUzI1NiIsInR5...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portas em escuta: 8085  8092  8093  8094  8095  8096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Com o MS-Leitos parado, consultar UTI duas vezes devolve 503. Abrir ocorrência no mesmo momento devolve 201.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CF2F8"/>
                </a:solidFill>
                <a:latin typeface="Calibri"/>
              </a:rPr>
              <a:t>Subir o MS-Leitos de novo. Depois da janela do circuito, a consulta volta a 200.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11  / 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74519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B860"/>
                </a:solidFill>
                <a:latin typeface="Calibri"/>
              </a:rPr>
              <a:t>MINUTOS 12 A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F2F8"/>
                </a:solidFill>
                <a:latin typeface="Calibri"/>
              </a:rPr>
              <a:t>Felipe Melchior de Britto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0C6D2"/>
                </a:solidFill>
                <a:latin typeface="Calibri"/>
              </a:rPr>
              <a:t>A saga percorre ambulância, leito e hospital sem um banco só.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6B4C4"/>
                </a:solidFill>
                <a:latin typeface="Calibri"/>
              </a:rPr>
              <a:t>12  / 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B860"/>
                </a:solidFill>
                <a:latin typeface="Calibri"/>
              </a:rPr>
              <a:t>FELIPE  · 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O despacho é uma sequência, não uma transação única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RF06 a RF12. Ambulância exclusiva, depois leito da especialidade, depois ocorrência DESPACHADA.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Sem ambulância, ou sem leito na primeira busca: FALHA_DESPACHO. A equipe ainda não saiu.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RF07. O segundo despacho devolve o mesmo par. Não começa outra saga.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RF13 a RF16. O hospital aceita, recusa ou cala. Recusa cancela o leito e pede outro, com a mesma ambulância.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 mensagem só sai depois do commit. Mensagem repetida não cria segunda reserva 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13  / 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B860"/>
                </a:solidFill>
                <a:latin typeface="Calibri"/>
              </a:rPr>
              <a:t>FELIPE  ·  A 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Por que fila, e não uma chamada síncrona gigante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RabbitMQ, oito filas classic. Cada serviço confirma o passo que é dono.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Entrega at-least-once. O consumidor é idempotente pela ocorrência.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MySQL separado: ocorrência, ambulância e leito não compartilham tabela.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SorteioUnidade simula o hospital. Aceite, recusa, silêncio ou aleatório, sem endpoint externo.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 abertura grava ABERTA e não publica fila. A saga começa no despacho.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14  / 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B860"/>
                </a:solidFill>
                <a:latin typeface="Calibri"/>
              </a:rPr>
              <a:t>FELIPE  ·  despachar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202 diz que a saga começou. O destino ainda não existe.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29768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(ocorrencia.getStatus() != StatusOcorrencia.ABERTA)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new DespachoHttp(200, resposta(ocorrencia));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ocorrencia.setStatus(StatusOcorrencia.EM_DESPACHO);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despachos.save(new Despacho(ocorrencia.getId(), agora));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publicador.depoisDoCommit(() -&gt; publicador.saga(Filas.ALOCAR_AMBULANCIA,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new AlocarAmbulancia(ocorrencia.getId(), ocorrencia.getPrioridade())));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return new DespachoHttp(202, resposta(ocorrencia));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C6D2"/>
                </a:solidFill>
                <a:latin typeface="Calibri"/>
              </a:rPr>
              <a:t>ms-ocorrencias  ·  OcorrenciaSagaService.despachar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15  / 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B860"/>
                </a:solidFill>
                <a:latin typeface="Calibri"/>
              </a:rPr>
              <a:t>FELIPE  ·  receberAmbulancia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Sem vaga na frota, o leito nem é pedido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20624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(!evento.sucesso())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ocorrencia.setStatus(StatusOcorrencia.FALHA_DESPACHO);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(ocorrencia.getAmbulanciaId() == null)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ocorrencia.setAmbulanciaId(evento.ambulanciaId());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(ocorrencia.getLeitoId() == null)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publicarReserva(ocorrencia, evento.ambulanciaId());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0972800" cy="45720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A reserva sai em saga.reservar-leito, também depois do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16  / 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B860"/>
                </a:solidFill>
                <a:latin typeface="Calibri"/>
              </a:rPr>
              <a:t>FELIPE  ·  HOSPITAL E SWAGGER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O acaso vale em cada tentativa de reserva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760720" cy="301752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 ResultadoUnidade sortear()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String fixo = resultadoFixo.get();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if (!fixo.isBlank())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return ResultadoUnidade.valueOf(fixo);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valores[ThreadLocalRandom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.current().nextInt(valores.length)];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pic>
        <p:nvPicPr>
          <p:cNvPr id="7" name="Picture 6" descr="swagger-ocor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646673" cy="4663440"/>
          </a:xfrm>
          <a:prstGeom prst="rect">
            <a:avLst/>
          </a:prstGeom>
          <a:ln w="12700">
            <a:solidFill>
              <a:srgbClr val="466E8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5669280" cy="15544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CF2F8"/>
                </a:solidFill>
                <a:latin typeface="Calibri"/>
              </a:rPr>
              <a:t>Aceite encerra. Recusa pede outro leito na hora. Silêncio espera o prazo.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CF2F8"/>
                </a:solidFill>
                <a:latin typeface="Calibri"/>
              </a:rPr>
              <a:t>Swagger do MS-Ocorrências, porta 8093.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17  / 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74519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2CEA8"/>
                </a:solidFill>
                <a:latin typeface="Calibri"/>
              </a:rPr>
              <a:t>MINUTOS 24 A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F2F8"/>
                </a:solidFill>
                <a:latin typeface="Calibri"/>
              </a:rPr>
              <a:t>Sérgio Leandro Alves da Silva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0C6D2"/>
                </a:solidFill>
                <a:latin typeface="Calibri"/>
              </a:rPr>
              <a:t>Consulta em cache, prazo de confirmação e o alerta gravado.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6B4C4"/>
                </a:solidFill>
                <a:latin typeface="Calibri"/>
              </a:rPr>
              <a:t>18  / 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Vaga, prazo e alerta são outros problemas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RF17 a RF19. A lista de disponíveis não pode reler o MySQL em toda consulta, nem mentir depois de uma reserva.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RF20 a RF22. Reserva sem confirmação por mais de 2 minutos segue o mesmo caminho da recusa.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 ambulância fica AGUARDANDO_LEITO. A busca seguinte prefere um leito que esta ocorrência ainda não tenha queimado.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RF23. Sem nenhum livre, não é FALHA_DESPACHO. A equipe já está na ocorrência. O alerta é FALTA_LEITO.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RF24. DESPACHO, EXPIRACAO e FALTA_LEITO ficam registrados. Não há 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19  / 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A 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Redis na leitura, Mongo no alerta, job no prazo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Redis. A chave nasce na primeira leitura. some quando a ocupação muda. Se o Redis falha, a consulta segue no MySQL.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Chaves: frota:disponiveis e leitos:disponiveis:UTI, EMERGENCIA ou ENFERMARIA.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Job a cada 15 segundos. Só leito RESERVADO, não confirmado, mais velho que o prazo. Reserva aceita não expira.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MongoDB só no MS-Notificações. Coleções notificacoes e auditoria. Índice único evita alerta duplicado.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 varredura também publica saga.retentar-busca-leito para a especialidade que ainda tem vaga.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20  / 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CacheLeitos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Cache acelera. Não é a fonte da verdade.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20624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 static String chave(String tipoLeito)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 "leitos:disponiveis:" + tipoLeito;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 Optional&lt;String&gt; ler(String chave)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try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return Optional.ofNullable(redis.opsForValue().get(chave));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} catch (RuntimeException ignorado)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return Optional.empty();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 void apagar(String tipoLeito)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redis.delete(chave(tipoLeito));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0972800" cy="4114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0C6D2"/>
                </a:solidFill>
                <a:latin typeface="Calibri"/>
              </a:rPr>
              <a:t>ms-leitos  ·  o mesmo desenho existe na frota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21  / 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expirarReservas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O prazo reutiliza o desfecho da recusa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466344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@Scheduled(fixedDelayString = "${omnileito.reserva.varredura-ms:15000}")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public void expirarReservas()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LocalDateTime limite = LocalDateTime.now().minusMinutes(expiracaoMinutos);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List&lt;Leito&gt; vencidas = leitos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.findByStatusAndConfirmadoFalseAndReservadoEmBefore(StatusLeito.RESERVADO, limite);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for (Leito leito : vencidas)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recusar(leito, ocorrenciaId, "EXPIRACAO", LocalDateTime.now());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publicador.depoisDoCommit(() -&gt;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    publicador.saga(Filas.LEITO_EXPIRADO, new LeitoExpirado(...));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    publicador.notificacao(new RegistrarNotificacao(..., "EXPIRACAO", texto, quando));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});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22  / 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NotificacaoService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A mesma mensagem duas vezes grava um alerta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4114800"/>
          </a:xfrm>
          <a:prstGeom prst="roundRect">
            <a:avLst>
              <a:gd name="adj" fmla="val 4000"/>
            </a:avLst>
          </a:prstGeom>
          <a:solidFill>
            <a:srgbClr val="030A14">
              <a:alpha a:val="92000"/>
            </a:srgbClr>
          </a:solidFill>
          <a:ln>
            <a:solidFill>
              <a:srgbClr val="28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if (notificacoes.findByOcorrenciaIdAndTipoAndOcorridaEm(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    pedido.ocorrenciaId(), pedido.tipo(), pedido.ocorridaEm()).isPresent())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notificacoes.save(new NotificacaoDocumento(..., pedido.tipo(), pedido.mensagem(), pedido.ocorridaEm()));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auditorias.save(new AuditoriaDocumento(..., origem));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 catch (DuplicateKeyException ignorado)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    // Entrega repetida da mesma chave não cria outro alerta.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D6E8E2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0972800" cy="5486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Tipos: DESPACHO, EXPIRACAO, FALTA_LEITO. O texto basta.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23  / 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SÉRGIO  ·  RABBITMQ OCIOSO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Ready zero é saga concluída, não broker parado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http://localhost:15672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guest / guest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Oito filas classic, estado running.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Esta foto é o sistema quieto: Ready, Unacked e Total em 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CF2F8"/>
                </a:solidFill>
                <a:latin typeface="Calibri"/>
              </a:rPr>
              <a:t>A prova de movimento é a coluna de taxas, na rajada.</a:t>
            </a:r>
          </a:p>
        </p:txBody>
      </p:sp>
      <p:pic>
        <p:nvPicPr>
          <p:cNvPr id="7" name="Picture 6" descr="rabbit-filas-c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71600"/>
            <a:ext cx="5506321" cy="4709160"/>
          </a:xfrm>
          <a:prstGeom prst="rect">
            <a:avLst/>
          </a:prstGeom>
          <a:ln w="12700">
            <a:solidFill>
              <a:srgbClr val="466E8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24  / 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74519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2CEA8"/>
                </a:solidFill>
                <a:latin typeface="Calibri"/>
              </a:rPr>
              <a:t>MINUTOS 36 A 45  ·  SÉRGIO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F2F8"/>
                </a:solidFill>
                <a:latin typeface="Calibri"/>
              </a:rPr>
              <a:t>Ensaio no Painel e no RabbitMQ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0C6D2"/>
                </a:solidFill>
                <a:latin typeface="Calibri"/>
              </a:rPr>
              <a:t>Sérgio Leandro conduz as duas telas, do estado inicial à rajada.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6B4C4"/>
                </a:solidFill>
                <a:latin typeface="Calibri"/>
              </a:rPr>
              <a:t>25  / 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ENSAIO  ·  PREPARAR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Duas abas, carga limpa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Aba 1: http://localhost:8085/  — Painel de Controle, já autenticado.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Aba 2: http://localhost:15672  — Queues and Streams, guest / guest.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Clicar Reiniciar no estado inicial. Esperar cinco HTTP 204.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RabbitMQ: as oito filas em Ready 0. A fila retentar-busca-leito pode mostrar taxa baixa. É a varredura.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Ocupação: ABC-1234 e XYZ-5678 disponíveis. UTI lista L-UTI-01.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26  / 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ENSAIO  ·  O DESPACHO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Sérgio conduz o despacho nas duas telas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1. Se a sessão caiu, Entrar com regulador / regulador. HTTP 200.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2. Ambulâncias disponíveis e Leitos livres de UTI. Mostrar a carga antes de gastar.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3. Modo Aceite. Abrir uma UTI. Despachar até DESPACHADA, ambulância 1, L-UTI-01.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4. Notificações: um DESPACHO. No RabbitMQ, Ready volta a 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F2F8"/>
                </a:solidFill>
                <a:latin typeface="Calibri"/>
              </a:rPr>
              <a:t>5. Segundo despacho: HTTP 200, os mesmos ids. XYZ-5678 continua disponível.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27  / 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ENSAIO  ·  AS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Primeiro a foto. Depois a saga de verdade.</a:t>
            </a:r>
          </a:p>
        </p:txBody>
      </p:sp>
      <p:pic>
        <p:nvPicPr>
          <p:cNvPr id="6" name="Picture 5" descr="painel-fi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718176" cy="4754880"/>
          </a:xfrm>
          <a:prstGeom prst="rect">
            <a:avLst/>
          </a:prstGeom>
          <a:ln w="12700">
            <a:solidFill>
              <a:srgbClr val="466E8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46320" y="137160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Pausar e acumular, quantidade 40.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Quatro pausas em 204 e o acúmulo em 204.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Atualizar o RabbitMQ: Ready 40 nas oito. Esperar 15 segundos: continua 40.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As ambulâncias seguem DISPONIVEL. inspecao-fila não foi consumida.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Esvaziar e religar. Ready volta a 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Rajada 20, com o management visível enquanto o botão está desabilitado. As taxas sobem. No fim, Ready 0 e a frota gasta.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CF2F8"/>
                </a:solidFill>
                <a:latin typeface="Calibri"/>
              </a:rPr>
              <a:t>Estado inicial de novo, para devolver a semente.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28  / 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2CEA8"/>
                </a:solidFill>
                <a:latin typeface="Calibri"/>
              </a:rPr>
              <a:t>ENSAIO  ·  COMO LER O RABBITMQ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As duas fotos não dizem a mesma coisa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Acúmulo. Ready parado na quantidade. deliver/get em 0,00/s. Os listeners estão pausados e a varredura também.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State running não prova consumidor. A fila existe. O sinal de pausa é Ready que não desce.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Rajada. Ready fica em 0 porque o consumidor acompanha. A prova é incoming, deliver/get e ack acima de 0,00/s.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0,40/s depois do HTTP 200 é a média do pico que já passou. Não é fila enchendo.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saga.leito-expirado só se mexe quando uma reserva sem confirmação completa 2 minutos.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F2F8"/>
                </a:solidFill>
                <a:latin typeface="Calibri"/>
              </a:rPr>
              <a:t>Se sobrar um minuto: parar só a 8095. Consulta de UTI em 503. Abertura em 201.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29  / 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pa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01168"/>
            <a:ext cx="11612880" cy="6455664"/>
          </a:xfrm>
          <a:prstGeom prst="roundRect">
            <a:avLst>
              <a:gd name="adj" fmla="val 4000"/>
            </a:avLst>
          </a:prstGeom>
          <a:solidFill>
            <a:srgbClr val="051020">
              <a:alpha a: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115568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ED6DF"/>
                </a:solidFill>
                <a:latin typeface="Calibri"/>
              </a:rPr>
              <a:t>O QUE A BANCA VIU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F2F8"/>
                </a:solidFill>
                <a:latin typeface="Calibri"/>
              </a:rPr>
              <a:t>Cada problema com a tecnologia que o resolve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Igor. Uma entrada, um token, e leitos indisponível sem derrubar a abertura.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Felipe. Saga com commit antes da fila, ambulância exclusiva e hospital que aceita, recusa ou cala.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Sérgio. Cache que não mente, prazo que não solta a ambulância, e alerta gravado sem SMS.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CF2F8"/>
                </a:solidFill>
                <a:latin typeface="Calibri"/>
              </a:rPr>
              <a:t>Sérgio conduziu o ensaio: o painel para a regulação e o RabbitMQ para a fila.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ED6DF"/>
                </a:solidFill>
                <a:latin typeface="Calibri"/>
              </a:rPr>
              <a:t>OmniLeito  ·  Grupo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0C6D2"/>
                </a:solidFill>
                <a:latin typeface="Calibri"/>
              </a:rPr>
              <a:t>30  /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OmniLeito — apresentação do Grupo 3</dc:title>
  <dc:subject/>
  <dc:creator>Felipe Melchior de Britto; Igor Benedito Costa Gonçalves; Sérgio Leandro Alves da Silva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